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"/>
      <p:regular r:id="rId201314"/>
    </p:embeddedFont>
    <p:embeddedFont>
      <p:font typeface="Barlow Bold"/>
      <p:regular r:id="rId201315"/>
    </p:embeddedFont>
    <p:embeddedFont>
      <p:font typeface="Barlow Black"/>
      <p:regular r:id="rId201316"/>
    </p:embeddedFont>
    <p:embeddedFont>
      <p:font typeface="Spline Sans Bold"/>
      <p:regular r:id="rId201317"/>
    </p:embeddedFont>
    <p:embeddedFont>
      <p:font typeface="Spline Sans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2374007"/>
            <a:ext cx="617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Customer Shopping Behavior Analysis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20012" y="3825577"/>
            <a:ext cx="617978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3,900 transactions · 18 features · Strategic insights across demographics, purchases &amp; behavior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933946"/>
            <a:ext cx="617978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Dataset at a Glance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5291898" y="1916807"/>
            <a:ext cx="2961308" cy="812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6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3900</a:t>
            </a:r>
            <a:endParaRPr lang="en-US" sz="6350" dirty="0"/>
          </a:p>
        </p:txBody>
      </p:sp>
      <p:sp>
        <p:nvSpPr>
          <p:cNvPr id="5" name="Text 2"/>
          <p:cNvSpPr/>
          <p:nvPr/>
        </p:nvSpPr>
        <p:spPr>
          <a:xfrm>
            <a:off x="5291898" y="2986584"/>
            <a:ext cx="296130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Transactions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510375" y="1916807"/>
            <a:ext cx="2961308" cy="812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6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18</a:t>
            </a:r>
            <a:endParaRPr lang="en-US" sz="6350" dirty="0"/>
          </a:p>
        </p:txBody>
      </p:sp>
      <p:sp>
        <p:nvSpPr>
          <p:cNvPr id="7" name="Text 4"/>
          <p:cNvSpPr/>
          <p:nvPr/>
        </p:nvSpPr>
        <p:spPr>
          <a:xfrm>
            <a:off x="8510375" y="2986584"/>
            <a:ext cx="296130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Columns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901087" y="3786584"/>
            <a:ext cx="2961308" cy="812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6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6350" dirty="0"/>
          </a:p>
        </p:txBody>
      </p:sp>
      <p:sp>
        <p:nvSpPr>
          <p:cNvPr id="9" name="Text 6"/>
          <p:cNvSpPr/>
          <p:nvPr/>
        </p:nvSpPr>
        <p:spPr>
          <a:xfrm>
            <a:off x="6901087" y="4856361"/>
            <a:ext cx="296130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Categories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901087" y="5265539"/>
            <a:ext cx="2961308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Clothing, Footwear, Accessories, Outerwear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2172593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Data Features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20012" y="3155553"/>
            <a:ext cx="3446773" cy="1529755"/>
          </a:xfrm>
          <a:prstGeom prst="roundRect">
            <a:avLst>
              <a:gd name="adj" fmla="val 20173"/>
            </a:avLst>
          </a:prstGeom>
          <a:solidFill>
            <a:srgbClr val="0A081B"/>
          </a:solidFill>
          <a:ln w="25399">
            <a:solidFill>
              <a:srgbClr val="16F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1087" y="3386634"/>
            <a:ext cx="298462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Demographics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51087" y="3795812"/>
            <a:ext cx="298462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Age, Gender, Location, Subscription Status, Age Group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72461" y="3155553"/>
            <a:ext cx="3446773" cy="1529755"/>
          </a:xfrm>
          <a:prstGeom prst="roundRect">
            <a:avLst>
              <a:gd name="adj" fmla="val 20173"/>
            </a:avLst>
          </a:prstGeom>
          <a:solidFill>
            <a:srgbClr val="0A081B"/>
          </a:solidFill>
          <a:ln w="25399">
            <a:solidFill>
              <a:srgbClr val="29DD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03536" y="3386634"/>
            <a:ext cx="298462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Purchase Details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603536" y="3795812"/>
            <a:ext cx="298462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Item, Category, Amount, Color, Season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24909" y="3155553"/>
            <a:ext cx="3446773" cy="1529755"/>
          </a:xfrm>
          <a:prstGeom prst="roundRect">
            <a:avLst>
              <a:gd name="adj" fmla="val 20173"/>
            </a:avLst>
          </a:prstGeom>
          <a:solidFill>
            <a:srgbClr val="0A081B"/>
          </a:solidFill>
          <a:ln w="25399">
            <a:solidFill>
              <a:srgbClr val="37A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5984" y="3386634"/>
            <a:ext cx="298462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Shopping Behavior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255984" y="3795812"/>
            <a:ext cx="298462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Rating, Shipping, Discount, Payment Method, Frequency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45517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EDA in Python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20012" y="1737816"/>
            <a:ext cx="102788" cy="102791"/>
          </a:xfrm>
          <a:prstGeom prst="ellipse">
            <a:avLst/>
          </a:prstGeom>
          <a:solidFill>
            <a:srgbClr val="16FFBB"/>
          </a:solidFill>
          <a:ln/>
        </p:spPr>
      </p:sp>
      <p:sp>
        <p:nvSpPr>
          <p:cNvPr id="4" name="Text 2"/>
          <p:cNvSpPr/>
          <p:nvPr/>
        </p:nvSpPr>
        <p:spPr>
          <a:xfrm>
            <a:off x="1028476" y="1628477"/>
            <a:ext cx="218652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Load &amp; Explore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028476" y="2037655"/>
            <a:ext cx="2186528" cy="123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used pandas →df.info(),</a:t>
            </a:r>
            <a:endParaRPr lang="en-US" sz="1600" dirty="0"/>
          </a:p>
          <a:p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df.describe(),df.head()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df.isnull().sum()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2173" y="1737816"/>
            <a:ext cx="102788" cy="102791"/>
          </a:xfrm>
          <a:prstGeom prst="ellipse">
            <a:avLst/>
          </a:prstGeom>
          <a:solidFill>
            <a:srgbClr val="29DDDA"/>
          </a:solidFill>
          <a:ln/>
        </p:spPr>
      </p:sp>
      <p:sp>
        <p:nvSpPr>
          <p:cNvPr id="7" name="Text 5"/>
          <p:cNvSpPr/>
          <p:nvPr/>
        </p:nvSpPr>
        <p:spPr>
          <a:xfrm>
            <a:off x="3780636" y="1628477"/>
            <a:ext cx="21866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Standardize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3780636" y="2037655"/>
            <a:ext cx="2186627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Snake_case columns · renamed fields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24432" y="1737816"/>
            <a:ext cx="102788" cy="102791"/>
          </a:xfrm>
          <a:prstGeom prst="ellipse">
            <a:avLst/>
          </a:prstGeom>
          <a:solidFill>
            <a:srgbClr val="37A7E7"/>
          </a:solidFill>
          <a:ln/>
        </p:spPr>
      </p:sp>
      <p:sp>
        <p:nvSpPr>
          <p:cNvPr id="10" name="Text 8"/>
          <p:cNvSpPr/>
          <p:nvPr/>
        </p:nvSpPr>
        <p:spPr>
          <a:xfrm>
            <a:off x="6532895" y="1628477"/>
            <a:ext cx="218652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Feature Engineering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532895" y="2037655"/>
            <a:ext cx="2186528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age_group bins · purchase_frequency_days mapping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976592" y="1737816"/>
            <a:ext cx="102788" cy="102791"/>
          </a:xfrm>
          <a:prstGeom prst="ellipse">
            <a:avLst/>
          </a:prstGeom>
          <a:solidFill>
            <a:srgbClr val="091231"/>
          </a:solidFill>
          <a:ln/>
        </p:spPr>
      </p:sp>
      <p:sp>
        <p:nvSpPr>
          <p:cNvPr id="13" name="Text 11"/>
          <p:cNvSpPr/>
          <p:nvPr/>
        </p:nvSpPr>
        <p:spPr>
          <a:xfrm>
            <a:off x="9285055" y="1628477"/>
            <a:ext cx="21866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Clean &amp; Export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285055" y="2037655"/>
            <a:ext cx="2186627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Dropped redundant column -promo_code_used → CSV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913" y="4331593"/>
            <a:ext cx="2910906" cy="16495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13110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Revenue &amp; High Spenders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024559"/>
            <a:ext cx="5124917" cy="3688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3115" y="1998861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Male customers generate 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16FFBB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2× more revenue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353115" y="2490291"/>
            <a:ext cx="5124917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high-spending discount users identified — purchases above average even with discounts applied.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701080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Top Products by Discount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812528"/>
            <a:ext cx="5124917" cy="3688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3115" y="1786830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Top Discounted Products</a:t>
            </a:r>
            <a:endParaRPr lang="en-US" sz="1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3115" y="2303959"/>
          <a:ext cx="9143771" cy="914400"/>
        </p:xfrm>
        <a:graphic>
          <a:graphicData uri="http://schemas.openxmlformats.org/drawingml/2006/table">
            <a:tbl>
              <a:tblPr/>
              <a:tblGrid>
                <a:gridCol w="2562459"/>
                <a:gridCol w="2562459"/>
              </a:tblGrid>
              <a:tr h="5950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Item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5735" marR="20573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Discount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5735" marR="20573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01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Hat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5735" marR="20573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50.00%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5735" marR="20573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01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Sneakers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5735" marR="20573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49.66%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5735" marR="20573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01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Coat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5735" marR="20573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49.07%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5735" marR="20573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01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Sweater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5735" marR="20573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48.17%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5735" marR="20573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950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Pants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5735" marR="20573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47.37%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5735" marR="205735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353115" y="2886199"/>
            <a:ext cx="5124917" cy="1285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6353115" y="3487648"/>
            <a:ext cx="5124917" cy="1285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6353115" y="4089097"/>
            <a:ext cx="5124917" cy="1285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6353115" y="4690546"/>
            <a:ext cx="5124917" cy="1285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6353115" y="5291995"/>
            <a:ext cx="5124917" cy="1285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13110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Customer Segmentation &amp; Shipping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024559"/>
            <a:ext cx="5124917" cy="3688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3115" y="1998861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Segments by Previous Purchases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353115" y="2490291"/>
            <a:ext cx="5734502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Loyal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(3,116) ·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Returning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(701) ·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New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(83)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353115" y="3102273"/>
            <a:ext cx="5124917" cy="25400"/>
          </a:xfrm>
          <a:prstGeom prst="roundRect">
            <a:avLst>
              <a:gd name="adj" fmla="val 49999"/>
            </a:avLst>
          </a:prstGeom>
          <a:solidFill>
            <a:srgbClr val="E0E4E6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353115" y="3410446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Average Purchase Amount by Shipping 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353115" y="3901877"/>
            <a:ext cx="5734502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Express: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$60.48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vs Standard: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$58.46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13110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Subscription &amp; Age Group Insights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024559"/>
            <a:ext cx="5124917" cy="3688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3115" y="1998861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Subscription Status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353115" y="2490291"/>
            <a:ext cx="5124917" cy="1172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Subscribers: 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1,053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Non-subscribers: 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2,847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Repeat buyers (5+ purchases):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2,518 non-subscribers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vs 958 subscribers — major untapped opportunity.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353115" y="3894435"/>
            <a:ext cx="5124917" cy="1131491"/>
          </a:xfrm>
          <a:prstGeom prst="roundRect">
            <a:avLst>
              <a:gd name="adj" fmla="val 27274"/>
            </a:avLst>
          </a:prstGeom>
          <a:solidFill>
            <a:srgbClr val="00805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791" y="4212828"/>
            <a:ext cx="257169" cy="205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21634" y="4130973"/>
            <a:ext cx="4250723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Young Adults lead revenue — prime subscription target.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1083667"/>
            <a:ext cx="617978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Power BI Dashboard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20012" y="1963738"/>
            <a:ext cx="462844" cy="462855"/>
          </a:xfrm>
          <a:prstGeom prst="ellipse">
            <a:avLst/>
          </a:prstGeom>
          <a:solidFill>
            <a:srgbClr val="0A081B"/>
          </a:solidFill>
          <a:ln w="25399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4268" y="2023666"/>
            <a:ext cx="2742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388532" y="2034381"/>
            <a:ext cx="229278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3.9K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388532" y="2443559"/>
            <a:ext cx="229278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Total Customers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938489" y="1963738"/>
            <a:ext cx="462844" cy="462855"/>
          </a:xfrm>
          <a:prstGeom prst="ellipse">
            <a:avLst/>
          </a:prstGeom>
          <a:solidFill>
            <a:srgbClr val="0A081B"/>
          </a:solidFill>
          <a:ln w="25399">
            <a:solidFill>
              <a:srgbClr val="29D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32744" y="2023666"/>
            <a:ext cx="2742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4607008" y="2034381"/>
            <a:ext cx="229278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$59.76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607008" y="2443559"/>
            <a:ext cx="229278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Avg Purchase Amount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20012" y="3184227"/>
            <a:ext cx="462844" cy="462855"/>
          </a:xfrm>
          <a:prstGeom prst="ellipse">
            <a:avLst/>
          </a:prstGeom>
          <a:solidFill>
            <a:srgbClr val="0A081B"/>
          </a:solidFill>
          <a:ln w="25399">
            <a:solidFill>
              <a:srgbClr val="37A7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4268" y="3244155"/>
            <a:ext cx="2742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1388532" y="3254871"/>
            <a:ext cx="229278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3.75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388532" y="3664049"/>
            <a:ext cx="229278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Avg Rating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938489" y="3184227"/>
            <a:ext cx="462844" cy="462855"/>
          </a:xfrm>
          <a:prstGeom prst="ellipse">
            <a:avLst/>
          </a:prstGeom>
          <a:solidFill>
            <a:srgbClr val="0A081B"/>
          </a:solidFill>
          <a:ln w="25399">
            <a:solidFill>
              <a:srgbClr val="09123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32744" y="3244155"/>
            <a:ext cx="2742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2150" dirty="0"/>
          </a:p>
        </p:txBody>
      </p:sp>
      <p:sp>
        <p:nvSpPr>
          <p:cNvPr id="18" name="Text 15"/>
          <p:cNvSpPr/>
          <p:nvPr/>
        </p:nvSpPr>
        <p:spPr>
          <a:xfrm>
            <a:off x="4607008" y="3254871"/>
            <a:ext cx="229278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27%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4607008" y="3664049"/>
            <a:ext cx="229278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Subscribers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20012" y="4404717"/>
            <a:ext cx="462844" cy="462855"/>
          </a:xfrm>
          <a:prstGeom prst="ellipse">
            <a:avLst/>
          </a:prstGeom>
          <a:solidFill>
            <a:srgbClr val="0A081B"/>
          </a:solidFill>
          <a:ln w="25399">
            <a:solidFill>
              <a:srgbClr val="16FFB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4268" y="4464645"/>
            <a:ext cx="2742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</a:t>
            </a:r>
            <a:endParaRPr lang="en-US" sz="2150" dirty="0"/>
          </a:p>
        </p:txBody>
      </p:sp>
      <p:sp>
        <p:nvSpPr>
          <p:cNvPr id="22" name="Text 19"/>
          <p:cNvSpPr/>
          <p:nvPr/>
        </p:nvSpPr>
        <p:spPr>
          <a:xfrm>
            <a:off x="1388532" y="4475361"/>
            <a:ext cx="551126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73 %</a:t>
            </a:r>
            <a:endParaRPr lang="en-US" sz="1750" dirty="0"/>
          </a:p>
        </p:txBody>
      </p:sp>
      <p:sp>
        <p:nvSpPr>
          <p:cNvPr id="23" name="Text 20"/>
          <p:cNvSpPr/>
          <p:nvPr/>
        </p:nvSpPr>
        <p:spPr>
          <a:xfrm>
            <a:off x="1388532" y="4884539"/>
            <a:ext cx="551126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Non-Subscribers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20012" y="5445125"/>
            <a:ext cx="678936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Filters: Subscription Status · Gender · Category · Shipping Type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936030"/>
            <a:ext cx="617978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Business Recommendations</a:t>
            </a:r>
            <a:endParaRPr lang="en-US" sz="35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12" y="1816100"/>
            <a:ext cx="617125" cy="61714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94306" y="1816100"/>
            <a:ext cx="208701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Boost Subscriptions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1594306" y="2511028"/>
            <a:ext cx="2087014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Better offers to convert 2,518 non-subscribers repeat buyers to subscribers.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8489" y="1816100"/>
            <a:ext cx="617125" cy="61714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812783" y="1816100"/>
            <a:ext cx="208701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Customer Loyalty Programs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4812783" y="2511028"/>
            <a:ext cx="208701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Reward Returning customers to grow Loyal segment.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0012" y="4239320"/>
            <a:ext cx="617125" cy="61714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94306" y="4239320"/>
            <a:ext cx="208701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Targeted Marketing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1594306" y="4934248"/>
            <a:ext cx="208701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Focus on Young Adults &amp; Express shipping users.</a:t>
            </a:r>
            <a:endParaRPr lang="en-US" sz="16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38489" y="4239320"/>
            <a:ext cx="617125" cy="61714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812783" y="4239320"/>
            <a:ext cx="208701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Product Positioning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4812783" y="4934248"/>
            <a:ext cx="208701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Highlight top-rated &amp; best-selling items in campaigns.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2026-09-02T07:11:16Z</dcterms:created>
  <dcterms:modified xsi:type="dcterms:W3CDTF">2026-09-02T07:11:16Z</dcterms:modified>
</cp:coreProperties>
</file>